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8"/>
  </p:notesMasterIdLst>
  <p:handoutMasterIdLst>
    <p:handoutMasterId r:id="rId19"/>
  </p:handoutMasterIdLst>
  <p:sldIdLst>
    <p:sldId id="281" r:id="rId5"/>
    <p:sldId id="355" r:id="rId6"/>
    <p:sldId id="354" r:id="rId7"/>
    <p:sldId id="353" r:id="rId8"/>
    <p:sldId id="283" r:id="rId9"/>
    <p:sldId id="351" r:id="rId10"/>
    <p:sldId id="361" r:id="rId11"/>
    <p:sldId id="360" r:id="rId12"/>
    <p:sldId id="362" r:id="rId13"/>
    <p:sldId id="272" r:id="rId14"/>
    <p:sldId id="363" r:id="rId15"/>
    <p:sldId id="364" r:id="rId16"/>
    <p:sldId id="3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47F05-0506-494A-8060-3F395B947DF9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1E857-36B8-43F1-9D87-FE508167BC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C0A13-3F3D-45D4-B17C-1E0ACF36A6FB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AAAB6-A2C6-4A85-A3A1-98EFBA61C9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effectLst/>
              <a:latin typeface="Segoe UI" panose="020B0502040204020203" pitchFamily="34" charset="0"/>
            </a:endParaRPr>
          </a:p>
          <a:p>
            <a:r>
              <a:rPr lang="en-US" dirty="0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36B1-75F6-458C-B388-8BC01E9857C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C0559-D619-4E56-BF6F-3712370C215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41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064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064" y="3355848"/>
            <a:ext cx="6272784" cy="2825496"/>
          </a:xfr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3832" y="1494502"/>
            <a:ext cx="9124336" cy="2989008"/>
          </a:xfrm>
        </p:spPr>
        <p:txBody>
          <a:bodyPr>
            <a:noAutofit/>
          </a:bodyPr>
          <a:lstStyle/>
          <a:p>
            <a:r>
              <a:rPr lang="en-US" dirty="0"/>
              <a:t>GOLD PRICE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3762" y="5363497"/>
            <a:ext cx="3978042" cy="84845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MOUNIKA PARIKIPANDLA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593D49-0C14-4263-84D4-3E8282851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113" y="1494503"/>
            <a:ext cx="9207055" cy="3596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53F592-8DE4-A36F-0C4D-A582EC76AD76}"/>
              </a:ext>
            </a:extLst>
          </p:cNvPr>
          <p:cNvSpPr txBox="1"/>
          <p:nvPr/>
        </p:nvSpPr>
        <p:spPr>
          <a:xfrm>
            <a:off x="970654" y="206603"/>
            <a:ext cx="102506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/>
              <a:t>GOLD PRICE FORECASTING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C423-85DE-48DB-8096-152D738B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4E39E-D8A0-4428-97D8-FE545232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FA539-2DA6-4197-AA13-56E0C339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0D1C4F-6EC5-BCC6-73D2-54CFDE6A55F2}"/>
              </a:ext>
            </a:extLst>
          </p:cNvPr>
          <p:cNvSpPr txBox="1"/>
          <p:nvPr/>
        </p:nvSpPr>
        <p:spPr>
          <a:xfrm>
            <a:off x="3279912" y="943069"/>
            <a:ext cx="50689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OBJECTIVE</a:t>
            </a:r>
            <a:endParaRPr lang="en-IN" sz="6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DE1282-4014-9DDC-BD4C-B9DFAE21D3F6}"/>
              </a:ext>
            </a:extLst>
          </p:cNvPr>
          <p:cNvSpPr txBox="1"/>
          <p:nvPr/>
        </p:nvSpPr>
        <p:spPr>
          <a:xfrm>
            <a:off x="4870172" y="3250095"/>
            <a:ext cx="54963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Analyze past gold price trends.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Identify influencing factors.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Apply forecasting models.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Predict future gold prices.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Support investment decisions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1B21CB-9020-7C73-D034-634F7E8F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40" y="2961861"/>
            <a:ext cx="4900386" cy="367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9E4D59-84B2-6540-77CE-010D6EB2240D}"/>
              </a:ext>
            </a:extLst>
          </p:cNvPr>
          <p:cNvSpPr txBox="1"/>
          <p:nvPr/>
        </p:nvSpPr>
        <p:spPr>
          <a:xfrm>
            <a:off x="586409" y="1142999"/>
            <a:ext cx="68083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DATA OVERVIEW</a:t>
            </a:r>
            <a:endParaRPr lang="en-IN" sz="6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7F2BE5-AD38-D1E7-1757-E82E5520BC1F}"/>
              </a:ext>
            </a:extLst>
          </p:cNvPr>
          <p:cNvSpPr txBox="1"/>
          <p:nvPr/>
        </p:nvSpPr>
        <p:spPr>
          <a:xfrm>
            <a:off x="1182758" y="3289850"/>
            <a:ext cx="67188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Historical gold prices (daily/monthly/yearly)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Attributes:DateOpen</a:t>
            </a:r>
            <a:r>
              <a:rPr lang="en-US" dirty="0"/>
              <a:t>, High, Low, Close prices.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period: (e.g., 2010–2024)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format: CSV / Excel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49DEF9-1CC6-6D6B-B200-85345986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713" y="2250996"/>
            <a:ext cx="4512365" cy="405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8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B8F57C-1D29-A8D8-0732-335869F7B476}"/>
              </a:ext>
            </a:extLst>
          </p:cNvPr>
          <p:cNvSpPr txBox="1"/>
          <p:nvPr/>
        </p:nvSpPr>
        <p:spPr>
          <a:xfrm>
            <a:off x="1469334" y="183529"/>
            <a:ext cx="9253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KEYPERFORMANCE INDICATORS(KPI’S</a:t>
            </a:r>
            <a:r>
              <a:rPr lang="en-US" sz="3200" dirty="0"/>
              <a:t>)</a:t>
            </a:r>
            <a:endParaRPr lang="en-IN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5788E7-51DA-3DDC-27CF-525BC30E6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637" y="768304"/>
            <a:ext cx="9772070" cy="49711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741D75-AC13-DF4C-51E4-7065CE3D2EC2}"/>
              </a:ext>
            </a:extLst>
          </p:cNvPr>
          <p:cNvSpPr txBox="1"/>
          <p:nvPr/>
        </p:nvSpPr>
        <p:spPr>
          <a:xfrm>
            <a:off x="586409" y="5814391"/>
            <a:ext cx="11439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charts show the accuracy and performance of the gold price forecasting model by comparing predicted values with actual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54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4486A56-2CA4-425A-89F9-E8324C12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65C8300-CD8E-4F35-9B79-C5DE7AD9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D3CB4-2930-E44A-81D1-708C98002DB0}"/>
              </a:ext>
            </a:extLst>
          </p:cNvPr>
          <p:cNvSpPr txBox="1"/>
          <p:nvPr/>
        </p:nvSpPr>
        <p:spPr>
          <a:xfrm>
            <a:off x="1232452" y="536713"/>
            <a:ext cx="6697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GOLD PRICE TREND</a:t>
            </a:r>
            <a:endParaRPr lang="en-IN" sz="5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B47C1F-4E74-A2E5-4666-03E12F950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48" y="1596567"/>
            <a:ext cx="11198439" cy="526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4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F663528-6F48-4679-80D6-A9D36226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41211D-5314-39D2-5F58-B2D2E512F2EA}"/>
              </a:ext>
            </a:extLst>
          </p:cNvPr>
          <p:cNvSpPr txBox="1"/>
          <p:nvPr/>
        </p:nvSpPr>
        <p:spPr>
          <a:xfrm>
            <a:off x="1196502" y="535021"/>
            <a:ext cx="9776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YEAR – WISE GOLD PRICES</a:t>
            </a:r>
            <a:endParaRPr lang="en-IN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863AF-F7D6-F10E-D050-17B72C6BE7A0}"/>
              </a:ext>
            </a:extLst>
          </p:cNvPr>
          <p:cNvSpPr txBox="1"/>
          <p:nvPr/>
        </p:nvSpPr>
        <p:spPr>
          <a:xfrm>
            <a:off x="467318" y="2305455"/>
            <a:ext cx="38517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Gold prices rise overall from 2015 to 2026 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2015–2019: </a:t>
            </a:r>
            <a:r>
              <a:rPr lang="en-US" dirty="0"/>
              <a:t>Slow increase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2020</a:t>
            </a:r>
            <a:r>
              <a:rPr lang="en-US" dirty="0"/>
              <a:t>: Big jump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2021–2022</a:t>
            </a:r>
            <a:r>
              <a:rPr lang="en-US" dirty="0"/>
              <a:t>: Steady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2023–2026</a:t>
            </a:r>
            <a:r>
              <a:rPr lang="en-US" dirty="0"/>
              <a:t>: Strong rise </a:t>
            </a:r>
          </a:p>
          <a:p>
            <a:endParaRPr lang="en-US" dirty="0"/>
          </a:p>
          <a:p>
            <a:r>
              <a:rPr lang="en-US" b="1" dirty="0"/>
              <a:t>Conclusion:</a:t>
            </a:r>
          </a:p>
          <a:p>
            <a:r>
              <a:rPr lang="en-US" dirty="0"/>
              <a:t>   Gold value generally increases over time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F45F82-0D8B-16A5-3A6A-C92435555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494" y="2205037"/>
            <a:ext cx="8041532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5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F5E7D-F10F-F2EA-1B3A-E7F2C5D6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9/4/20XX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632CD-7ACB-FD66-BACD-8858A96A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13A5D-0D9B-A772-F973-C4EB9CA2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145AD-4020-2CBC-8C1D-83B52D701DEB}"/>
              </a:ext>
            </a:extLst>
          </p:cNvPr>
          <p:cNvSpPr txBox="1"/>
          <p:nvPr/>
        </p:nvSpPr>
        <p:spPr>
          <a:xfrm>
            <a:off x="883191" y="596347"/>
            <a:ext cx="11004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MONTHLY PRICE FLUCTUATION</a:t>
            </a:r>
            <a:endParaRPr lang="en-IN" sz="5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8BE8EA-3A92-F56E-9376-519448914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392" y="1784350"/>
            <a:ext cx="7443017" cy="457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ED1306-07F9-A025-C9DE-3E74C17FB0D0}"/>
              </a:ext>
            </a:extLst>
          </p:cNvPr>
          <p:cNvSpPr txBox="1"/>
          <p:nvPr/>
        </p:nvSpPr>
        <p:spPr>
          <a:xfrm rot="10800000" flipV="1">
            <a:off x="586410" y="2368353"/>
            <a:ext cx="34521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month-wise changes in gold prices.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Prices gradually increase over months 📈.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small fluctuations (ups &amp; downs) in between.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Highest price in last months (Nov–Dec)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43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247F24F-FEDE-4BA9-AF7F-3B64E28D080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8C90A15-9E96-4CA9-83EA-49AB7F1981A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FF618EE-5A1C-450F-9B69-114AD205798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411118-93D6-A8BA-D63F-1A73A62CA645}"/>
              </a:ext>
            </a:extLst>
          </p:cNvPr>
          <p:cNvSpPr txBox="1"/>
          <p:nvPr/>
        </p:nvSpPr>
        <p:spPr>
          <a:xfrm>
            <a:off x="9823174" y="30745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FEE943-4E49-A65E-47D9-BAA64A7A5652}"/>
              </a:ext>
            </a:extLst>
          </p:cNvPr>
          <p:cNvSpPr txBox="1"/>
          <p:nvPr/>
        </p:nvSpPr>
        <p:spPr>
          <a:xfrm>
            <a:off x="9975574" y="32269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BDD280-7728-1632-FCE6-5C13A2DB7D5F}"/>
              </a:ext>
            </a:extLst>
          </p:cNvPr>
          <p:cNvSpPr txBox="1"/>
          <p:nvPr/>
        </p:nvSpPr>
        <p:spPr>
          <a:xfrm>
            <a:off x="10127974" y="33793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6294082-BE08-3B2F-8DF2-3AA243923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504" y="3243056"/>
            <a:ext cx="188992" cy="37188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D0AB5E2-1F9D-8460-3B53-48DE8028967F}"/>
              </a:ext>
            </a:extLst>
          </p:cNvPr>
          <p:cNvSpPr txBox="1"/>
          <p:nvPr/>
        </p:nvSpPr>
        <p:spPr>
          <a:xfrm>
            <a:off x="10280374" y="35317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50B62D-77D0-E0B5-97FF-F8881A243F33}"/>
              </a:ext>
            </a:extLst>
          </p:cNvPr>
          <p:cNvSpPr txBox="1"/>
          <p:nvPr/>
        </p:nvSpPr>
        <p:spPr>
          <a:xfrm>
            <a:off x="675861" y="787742"/>
            <a:ext cx="1182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YEAR-WISE TREND OF UPPER AND LOWER BANDS</a:t>
            </a:r>
            <a:endParaRPr lang="en-IN" sz="3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2FBB69-723A-E949-84AC-E9BF2359E909}"/>
              </a:ext>
            </a:extLst>
          </p:cNvPr>
          <p:cNvSpPr txBox="1"/>
          <p:nvPr/>
        </p:nvSpPr>
        <p:spPr>
          <a:xfrm>
            <a:off x="675861" y="2405270"/>
            <a:ext cx="36881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Year-wise Trend of Upper and Lower Bands.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Annual Bollinger Band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Yearly Upper vs Lower Value Trend.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TrendAnalysis</a:t>
            </a:r>
            <a:r>
              <a:rPr lang="en-US" dirty="0"/>
              <a:t> of </a:t>
            </a:r>
            <a:r>
              <a:rPr lang="en-US" dirty="0" err="1"/>
              <a:t>bb_upper</a:t>
            </a:r>
            <a:r>
              <a:rPr lang="en-US" dirty="0"/>
              <a:t> and </a:t>
            </a:r>
            <a:r>
              <a:rPr lang="en-US" dirty="0" err="1"/>
              <a:t>bb_lower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Year-wise Volatility Range Analysis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A53875-76BA-CF58-12DB-5BC24CFF9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269" y="2188723"/>
            <a:ext cx="7305472" cy="416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30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4A9DDDD-EC60-AF41-ECD8-8CA58497FE06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en-US"/>
              <a:t>9/4/20XX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966420-C4D0-232A-CF92-FF1A6410DAE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E8CB0C-957C-66FA-08BD-EDA6FCA2865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9</a:t>
            </a:fld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10B8F8-1204-B3E0-5349-91B6376AD1E6}"/>
              </a:ext>
            </a:extLst>
          </p:cNvPr>
          <p:cNvSpPr txBox="1"/>
          <p:nvPr/>
        </p:nvSpPr>
        <p:spPr>
          <a:xfrm>
            <a:off x="1063909" y="646045"/>
            <a:ext cx="9660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QUARTERLY VOLUME DISTRIBUTION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42BADC-C810-7F4B-A68B-151FB600686A}"/>
              </a:ext>
            </a:extLst>
          </p:cNvPr>
          <p:cNvSpPr txBox="1"/>
          <p:nvPr/>
        </p:nvSpPr>
        <p:spPr>
          <a:xfrm>
            <a:off x="655983" y="2291595"/>
            <a:ext cx="38961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how total volume is divided across 4 quarters.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Qtr</a:t>
            </a:r>
            <a:r>
              <a:rPr lang="en-US" b="1" dirty="0"/>
              <a:t> 1</a:t>
            </a:r>
            <a:r>
              <a:rPr lang="en-US" dirty="0"/>
              <a:t> has the highest contribution.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Qtr</a:t>
            </a:r>
            <a:r>
              <a:rPr lang="en-US" b="1" dirty="0"/>
              <a:t> 3 and </a:t>
            </a:r>
            <a:r>
              <a:rPr lang="en-US" b="1" dirty="0" err="1"/>
              <a:t>Qtr</a:t>
            </a:r>
            <a:r>
              <a:rPr lang="en-US" b="1" dirty="0"/>
              <a:t> 4</a:t>
            </a:r>
            <a:r>
              <a:rPr lang="en-US" dirty="0"/>
              <a:t> have moderate shares.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Qtr</a:t>
            </a:r>
            <a:r>
              <a:rPr lang="en-US" b="1" dirty="0"/>
              <a:t> 2</a:t>
            </a:r>
            <a:r>
              <a:rPr lang="en-US" dirty="0"/>
              <a:t> has the lowest contribution.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in understanding seasonal trends in volume.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BC8F6-C450-A839-E941-0C9C503B3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94" y="2223919"/>
            <a:ext cx="7043574" cy="413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41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E6EC47B-0875-49A4-8F1B-8B4B13F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304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9D51A1C-737E-43FC-8D3B-86E4D3CC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BD4F9CE-26BB-4441-99A7-B6599E9C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10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C3E832-C14F-5231-513C-02EBC8EDB0DA}"/>
              </a:ext>
            </a:extLst>
          </p:cNvPr>
          <p:cNvSpPr txBox="1"/>
          <p:nvPr/>
        </p:nvSpPr>
        <p:spPr>
          <a:xfrm>
            <a:off x="818322" y="774008"/>
            <a:ext cx="11273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YEARLY MOVING AVERAGE(MA 30) DISTRIBUTION</a:t>
            </a:r>
            <a:endParaRPr lang="en-IN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8030ED-9D22-960B-7DCB-61F9847DD378}"/>
              </a:ext>
            </a:extLst>
          </p:cNvPr>
          <p:cNvSpPr txBox="1"/>
          <p:nvPr/>
        </p:nvSpPr>
        <p:spPr>
          <a:xfrm>
            <a:off x="665923" y="2464904"/>
            <a:ext cx="46813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MA 30 values across different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2025 has the highest contribution.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2024 and 2023 show steady increase.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2022 and 2021 have lower values.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Indicates an overall upward trend in prices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81218-E9B3-732F-DD6E-B67B41B0F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936" y="2198451"/>
            <a:ext cx="6273141" cy="452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30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AC2E-A198-90D4-AE20-52D2B6136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9/4/20XX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272E8-E035-9D4F-B420-D5F158D2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4772B-F91B-6F9F-4227-ECBF9BF5A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0BE92A-83D8-C4BD-F471-7D375873EA8D}"/>
              </a:ext>
            </a:extLst>
          </p:cNvPr>
          <p:cNvSpPr txBox="1"/>
          <p:nvPr/>
        </p:nvSpPr>
        <p:spPr>
          <a:xfrm>
            <a:off x="1101852" y="739304"/>
            <a:ext cx="103767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FACTORS AFFECTING GOLD PRICES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62BFD-5ECE-8D3B-B6FD-D9B7B7672A92}"/>
              </a:ext>
            </a:extLst>
          </p:cNvPr>
          <p:cNvSpPr txBox="1"/>
          <p:nvPr/>
        </p:nvSpPr>
        <p:spPr>
          <a:xfrm>
            <a:off x="1391055" y="2597285"/>
            <a:ext cx="31906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Interest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Currency value (USD)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Demand &amp; supply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Geopolitical events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060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26CB7-1568-92CF-A9FD-98BFA763D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9/4/20XX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23AC-4828-F021-9573-70C2A542E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F847F-E0BE-0183-F6B2-5232E74D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8F9A7-3666-CA41-BA70-27037D106FAE}"/>
              </a:ext>
            </a:extLst>
          </p:cNvPr>
          <p:cNvSpPr txBox="1"/>
          <p:nvPr/>
        </p:nvSpPr>
        <p:spPr>
          <a:xfrm>
            <a:off x="648715" y="2014597"/>
            <a:ext cx="112087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</a:t>
            </a:r>
            <a:endParaRPr lang="en-US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Gold prices increase during inflation &amp; crises.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Inverse relation with USD &amp; interest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long-term upward trend.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 Recommendations: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ARIMA + ML models (LSTM) for better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 factors like inflation, interest rates, USD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 during uncertainty, avoid high-rate periods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Diversify portfolio for safety</a:t>
            </a:r>
          </a:p>
          <a:p>
            <a:endParaRPr lang="en-US" b="1" dirty="0"/>
          </a:p>
          <a:p>
            <a:r>
              <a:rPr lang="en-US" b="1" dirty="0"/>
              <a:t> Takeaway:</a:t>
            </a:r>
          </a:p>
          <a:p>
            <a:r>
              <a:rPr lang="en-US" dirty="0"/>
              <a:t> Gold is a safe long-term asset with price driven by economic factors.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A61CE-0BB2-4DBA-40C5-8D28BF27F23F}"/>
              </a:ext>
            </a:extLst>
          </p:cNvPr>
          <p:cNvSpPr txBox="1"/>
          <p:nvPr/>
        </p:nvSpPr>
        <p:spPr>
          <a:xfrm>
            <a:off x="1101852" y="685801"/>
            <a:ext cx="104672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INSIGHTS AND RECOMMENDATIONS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640346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AEBEA-F898-BDE2-E7E6-10DAB6CDD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9/4/20XX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DD5C4-BF75-D454-12DC-27AD3446F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040DE-3A59-7178-D049-66F8A099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F8CC4-6572-C88C-B3A1-048B99D0DCBE}"/>
              </a:ext>
            </a:extLst>
          </p:cNvPr>
          <p:cNvSpPr txBox="1"/>
          <p:nvPr/>
        </p:nvSpPr>
        <p:spPr>
          <a:xfrm>
            <a:off x="2385392" y="2822714"/>
            <a:ext cx="81103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12086292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presentation</Template>
  <TotalTime>256</TotalTime>
  <Words>473</Words>
  <Application>Microsoft Office PowerPoint</Application>
  <PresentationFormat>Widescreen</PresentationFormat>
  <Paragraphs>140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</vt:lpstr>
      <vt:lpstr>Calibri</vt:lpstr>
      <vt:lpstr>Segoe UI</vt:lpstr>
      <vt:lpstr>AccentBoxVTI</vt:lpstr>
      <vt:lpstr>GOLD PRICE FORECASTING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mounikaparikipandla30@gmail.com</dc:creator>
  <cp:lastModifiedBy>mounikaparikipandla30@gmail.com</cp:lastModifiedBy>
  <cp:revision>2</cp:revision>
  <dcterms:created xsi:type="dcterms:W3CDTF">2026-03-20T13:44:33Z</dcterms:created>
  <dcterms:modified xsi:type="dcterms:W3CDTF">2026-03-21T07:38:55Z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